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mpact" charset="1" panose="020B0806030902050204"/>
      <p:regular r:id="rId15"/>
    </p:embeddedFont>
    <p:embeddedFont>
      <p:font typeface="Arial" charset="1" panose="020B0502020202020204"/>
      <p:regular r:id="rId16"/>
    </p:embeddedFont>
    <p:embeddedFont>
      <p:font typeface="Arial Bold" charset="1" panose="020B0802020202020204"/>
      <p:regular r:id="rId17"/>
    </p:embeddedFon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Open Sans" charset="1" panose="020B0606030504020204"/>
      <p:regular r:id="rId20"/>
    </p:embeddedFont>
    <p:embeddedFont>
      <p:font typeface="Arial Italics" charset="1" panose="020B0502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https://www.flaticon.com/br/icone-gratis/custo-de-vida_14098733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https://www.kaggle.com/competitions/playground-series-s5e1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https://github.com/SSby2S/TCC-Data-Science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E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8541856" y="359253"/>
            <a:ext cx="9295936" cy="9568494"/>
          </a:xfrm>
          <a:custGeom>
            <a:avLst/>
            <a:gdLst/>
            <a:ahLst/>
            <a:cxnLst/>
            <a:rect r="r" b="b" t="t" l="l"/>
            <a:pathLst>
              <a:path h="9568494" w="9295936">
                <a:moveTo>
                  <a:pt x="0" y="0"/>
                </a:moveTo>
                <a:lnTo>
                  <a:pt x="9295937" y="0"/>
                </a:lnTo>
                <a:lnTo>
                  <a:pt x="9295937" y="9568494"/>
                </a:lnTo>
                <a:lnTo>
                  <a:pt x="0" y="9568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" t="0" r="-13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30974" y="3803209"/>
            <a:ext cx="16426052" cy="4201192"/>
            <a:chOff x="0" y="0"/>
            <a:chExt cx="21901403" cy="56015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01403" cy="5601589"/>
            </a:xfrm>
            <a:custGeom>
              <a:avLst/>
              <a:gdLst/>
              <a:ahLst/>
              <a:cxnLst/>
              <a:rect r="r" b="b" t="t" l="l"/>
              <a:pathLst>
                <a:path h="5601589" w="21901403">
                  <a:moveTo>
                    <a:pt x="0" y="0"/>
                  </a:moveTo>
                  <a:lnTo>
                    <a:pt x="21901403" y="0"/>
                  </a:lnTo>
                  <a:lnTo>
                    <a:pt x="21901403" y="5601589"/>
                  </a:lnTo>
                  <a:lnTo>
                    <a:pt x="0" y="56015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901403" cy="55539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3350"/>
                </a:lnSpc>
              </a:pPr>
              <a:r>
                <a:rPr lang="en-US" sz="13875" spc="-416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Previsão de Venda usando Inteligência Artificial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4916" y="8779863"/>
            <a:ext cx="5863867" cy="415290"/>
            <a:chOff x="0" y="0"/>
            <a:chExt cx="7818489" cy="553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18489" cy="553720"/>
            </a:xfrm>
            <a:custGeom>
              <a:avLst/>
              <a:gdLst/>
              <a:ahLst/>
              <a:cxnLst/>
              <a:rect r="r" b="b" t="t" l="l"/>
              <a:pathLst>
                <a:path h="553720" w="7818489">
                  <a:moveTo>
                    <a:pt x="0" y="0"/>
                  </a:moveTo>
                  <a:lnTo>
                    <a:pt x="7818489" y="0"/>
                  </a:lnTo>
                  <a:lnTo>
                    <a:pt x="7818489" y="553720"/>
                  </a:lnTo>
                  <a:lnTo>
                    <a:pt x="0" y="553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7818489" cy="6489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spc="-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Simone Rodrigues da Silva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5391" y="9195830"/>
            <a:ext cx="6963299" cy="415290"/>
            <a:chOff x="0" y="0"/>
            <a:chExt cx="9284399" cy="553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4399" cy="553720"/>
            </a:xfrm>
            <a:custGeom>
              <a:avLst/>
              <a:gdLst/>
              <a:ahLst/>
              <a:cxnLst/>
              <a:rect r="r" b="b" t="t" l="l"/>
              <a:pathLst>
                <a:path h="553720" w="9284399">
                  <a:moveTo>
                    <a:pt x="0" y="0"/>
                  </a:moveTo>
                  <a:lnTo>
                    <a:pt x="9284399" y="0"/>
                  </a:lnTo>
                  <a:lnTo>
                    <a:pt x="9284399" y="553720"/>
                  </a:lnTo>
                  <a:lnTo>
                    <a:pt x="0" y="553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9284399" cy="6489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spc="-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Pós-Graduação em Data Science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4916" y="8135296"/>
            <a:ext cx="5863867" cy="351980"/>
            <a:chOff x="0" y="0"/>
            <a:chExt cx="7818489" cy="4693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18489" cy="469306"/>
            </a:xfrm>
            <a:custGeom>
              <a:avLst/>
              <a:gdLst/>
              <a:ahLst/>
              <a:cxnLst/>
              <a:rect r="r" b="b" t="t" l="l"/>
              <a:pathLst>
                <a:path h="469306" w="7818489">
                  <a:moveTo>
                    <a:pt x="0" y="0"/>
                  </a:moveTo>
                  <a:lnTo>
                    <a:pt x="7818489" y="0"/>
                  </a:lnTo>
                  <a:lnTo>
                    <a:pt x="7818489" y="469306"/>
                  </a:lnTo>
                  <a:lnTo>
                    <a:pt x="0" y="469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7818489" cy="57408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Pitch | Avaliação do módulo 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6864435" cy="1171576"/>
            <a:chOff x="0" y="0"/>
            <a:chExt cx="9152580" cy="1562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2580" cy="1562101"/>
            </a:xfrm>
            <a:custGeom>
              <a:avLst/>
              <a:gdLst/>
              <a:ahLst/>
              <a:cxnLst/>
              <a:rect r="r" b="b" t="t" l="l"/>
              <a:pathLst>
                <a:path h="1562101" w="9152580">
                  <a:moveTo>
                    <a:pt x="0" y="0"/>
                  </a:moveTo>
                  <a:lnTo>
                    <a:pt x="9152580" y="0"/>
                  </a:lnTo>
                  <a:lnTo>
                    <a:pt x="9152580" y="1562101"/>
                  </a:lnTo>
                  <a:lnTo>
                    <a:pt x="0" y="1562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9152580" cy="16287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O PROBLEMA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3300" y="3475603"/>
            <a:ext cx="9008314" cy="3661283"/>
            <a:chOff x="0" y="0"/>
            <a:chExt cx="12011086" cy="4881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1086" cy="4881711"/>
            </a:xfrm>
            <a:custGeom>
              <a:avLst/>
              <a:gdLst/>
              <a:ahLst/>
              <a:cxnLst/>
              <a:rect r="r" b="b" t="t" l="l"/>
              <a:pathLst>
                <a:path h="4881711" w="12011086">
                  <a:moveTo>
                    <a:pt x="0" y="0"/>
                  </a:moveTo>
                  <a:lnTo>
                    <a:pt x="12011086" y="0"/>
                  </a:lnTo>
                  <a:lnTo>
                    <a:pt x="12011086" y="4881711"/>
                  </a:lnTo>
                  <a:lnTo>
                    <a:pt x="0" y="48817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2011086" cy="4986486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4200"/>
                </a:lnSpc>
              </a:pPr>
              <a:r>
                <a:rPr lang="en-US" sz="28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“</a:t>
              </a:r>
              <a:r>
                <a:rPr lang="en-US" sz="28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Uma gestão financeira eficiente depende de um planejamento preciso de produção e estoque. No entanto, sem previsões confiáveis de vendas, a empresa enfrenta riscos como excesso de estoque, ruptura de produtos e alocação ineficiente de recursos financeiros.”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076784" y="5045437"/>
            <a:ext cx="6211216" cy="4954646"/>
          </a:xfrm>
          <a:custGeom>
            <a:avLst/>
            <a:gdLst/>
            <a:ahLst/>
            <a:cxnLst/>
            <a:rect r="r" b="b" t="t" l="l"/>
            <a:pathLst>
              <a:path h="4954646" w="6211216">
                <a:moveTo>
                  <a:pt x="0" y="0"/>
                </a:moveTo>
                <a:lnTo>
                  <a:pt x="6211216" y="0"/>
                </a:lnTo>
                <a:lnTo>
                  <a:pt x="6211216" y="4954646"/>
                </a:lnTo>
                <a:lnTo>
                  <a:pt x="0" y="4954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34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62374" y="1302438"/>
            <a:ext cx="3958273" cy="2637199"/>
          </a:xfrm>
          <a:custGeom>
            <a:avLst/>
            <a:gdLst/>
            <a:ahLst/>
            <a:cxnLst/>
            <a:rect r="r" b="b" t="t" l="l"/>
            <a:pathLst>
              <a:path h="2637199" w="3958273">
                <a:moveTo>
                  <a:pt x="0" y="0"/>
                </a:moveTo>
                <a:lnTo>
                  <a:pt x="3958273" y="0"/>
                </a:lnTo>
                <a:lnTo>
                  <a:pt x="3958273" y="2637199"/>
                </a:lnTo>
                <a:lnTo>
                  <a:pt x="0" y="263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126537" y="9690496"/>
            <a:ext cx="988219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www.flaticon.com/br/icone-gratis/custo-de-vida_14098733"/>
              </a:rPr>
              <a:t>Imagens da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71855" y="4119312"/>
            <a:ext cx="1092101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  <a:spcBef>
                <a:spcPct val="0"/>
              </a:spcBef>
            </a:pPr>
            <a:r>
              <a:rPr lang="en-US" sz="999" spc="-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Imagem gerar por IA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6882262" cy="1171576"/>
            <a:chOff x="0" y="0"/>
            <a:chExt cx="9176350" cy="1562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6350" cy="1562101"/>
            </a:xfrm>
            <a:custGeom>
              <a:avLst/>
              <a:gdLst/>
              <a:ahLst/>
              <a:cxnLst/>
              <a:rect r="r" b="b" t="t" l="l"/>
              <a:pathLst>
                <a:path h="1562101" w="9176350">
                  <a:moveTo>
                    <a:pt x="0" y="0"/>
                  </a:moveTo>
                  <a:lnTo>
                    <a:pt x="9176350" y="0"/>
                  </a:lnTo>
                  <a:lnTo>
                    <a:pt x="9176350" y="1562101"/>
                  </a:lnTo>
                  <a:lnTo>
                    <a:pt x="0" y="1562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9176350" cy="16287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PÚBLICO-ALVO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967" y="2621039"/>
            <a:ext cx="6864435" cy="5253127"/>
            <a:chOff x="0" y="0"/>
            <a:chExt cx="9152580" cy="7004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2580" cy="7004169"/>
            </a:xfrm>
            <a:custGeom>
              <a:avLst/>
              <a:gdLst/>
              <a:ahLst/>
              <a:cxnLst/>
              <a:rect r="r" b="b" t="t" l="l"/>
              <a:pathLst>
                <a:path h="7004169" w="9152580">
                  <a:moveTo>
                    <a:pt x="0" y="0"/>
                  </a:moveTo>
                  <a:lnTo>
                    <a:pt x="9152580" y="0"/>
                  </a:lnTo>
                  <a:lnTo>
                    <a:pt x="9152580" y="7004169"/>
                  </a:lnTo>
                  <a:lnTo>
                    <a:pt x="0" y="7004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152580" cy="7089894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O algoritmo de previsão de vendas é voltado para áreas estratégicas da empresa que dependem de dados para decisões assertivas. 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Entre os principais beneficiários estão gestores financeiros, de produção, estoque e supply chain, além de executivos e analistas de dados. 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A solução oferece suporte direto ao planejamento orçamentário, otimização da produção e gestão eficiente de estoques, contribuindo para uma operação mais enxuta, previsível e financeiramente saudável.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544430" y="22307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10136" y="8279272"/>
            <a:ext cx="1092101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  <a:spcBef>
                <a:spcPct val="0"/>
              </a:spcBef>
            </a:pPr>
            <a:r>
              <a:rPr lang="en-US" sz="999" spc="-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Imagem gerar por IA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14538065" cy="1171576"/>
            <a:chOff x="0" y="0"/>
            <a:chExt cx="19384087" cy="1562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84087" cy="1562101"/>
            </a:xfrm>
            <a:custGeom>
              <a:avLst/>
              <a:gdLst/>
              <a:ahLst/>
              <a:cxnLst/>
              <a:rect r="r" b="b" t="t" l="l"/>
              <a:pathLst>
                <a:path h="1562101" w="19384087">
                  <a:moveTo>
                    <a:pt x="0" y="0"/>
                  </a:moveTo>
                  <a:lnTo>
                    <a:pt x="19384087" y="0"/>
                  </a:lnTo>
                  <a:lnTo>
                    <a:pt x="19384087" y="1562101"/>
                  </a:lnTo>
                  <a:lnTo>
                    <a:pt x="0" y="1562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384087" cy="16287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PROPOSTA DE SOLUÇÃO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967" y="2066308"/>
            <a:ext cx="8588357" cy="7090283"/>
            <a:chOff x="0" y="0"/>
            <a:chExt cx="11451142" cy="9453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51142" cy="9453711"/>
            </a:xfrm>
            <a:custGeom>
              <a:avLst/>
              <a:gdLst/>
              <a:ahLst/>
              <a:cxnLst/>
              <a:rect r="r" b="b" t="t" l="l"/>
              <a:pathLst>
                <a:path h="9453711" w="11451142">
                  <a:moveTo>
                    <a:pt x="0" y="0"/>
                  </a:moveTo>
                  <a:lnTo>
                    <a:pt x="11451142" y="0"/>
                  </a:lnTo>
                  <a:lnTo>
                    <a:pt x="11451142" y="9453711"/>
                  </a:lnTo>
                  <a:lnTo>
                    <a:pt x="0" y="94537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1451142" cy="9539436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Pa</a:t>
              </a: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ra enfrentar esse desafio, desenvolvi um algoritmo de previsão de vendas baseado em aprendizado de máquina. 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Inicialmente, o modelo foi treinado com dados de um produto específico, servindo como um protótipo validado. 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A arquitetura do algoritmo foi desenhada de forma padronizada, permitindo sua replicação e adaptação para os demais produtos da empresa, com o objetivo de otimizar a produção, o estoque e, consequentemente, a gestão financeira como um todo.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mo"/>
                  <a:ea typeface="Arimo"/>
                  <a:cs typeface="Arimo"/>
                  <a:sym typeface="Arimo"/>
                </a:rPr>
                <a:t>O estudo foi realizado através de 4 passos - Dados, Avaliação, Seleção e avaliação do modelo.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222817" y="2241478"/>
            <a:ext cx="7065183" cy="7065183"/>
          </a:xfrm>
          <a:custGeom>
            <a:avLst/>
            <a:gdLst/>
            <a:ahLst/>
            <a:cxnLst/>
            <a:rect r="r" b="b" t="t" l="l"/>
            <a:pathLst>
              <a:path h="7065183" w="7065183">
                <a:moveTo>
                  <a:pt x="0" y="0"/>
                </a:moveTo>
                <a:lnTo>
                  <a:pt x="7065183" y="0"/>
                </a:lnTo>
                <a:lnTo>
                  <a:pt x="7065183" y="7065183"/>
                </a:lnTo>
                <a:lnTo>
                  <a:pt x="0" y="7065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8225954" cy="1354455"/>
            <a:chOff x="0" y="0"/>
            <a:chExt cx="10967938" cy="18059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7938" cy="1805940"/>
            </a:xfrm>
            <a:custGeom>
              <a:avLst/>
              <a:gdLst/>
              <a:ahLst/>
              <a:cxnLst/>
              <a:rect r="r" b="b" t="t" l="l"/>
              <a:pathLst>
                <a:path h="1805940" w="10967938">
                  <a:moveTo>
                    <a:pt x="0" y="0"/>
                  </a:moveTo>
                  <a:lnTo>
                    <a:pt x="10967938" y="0"/>
                  </a:lnTo>
                  <a:lnTo>
                    <a:pt x="10967938" y="1805940"/>
                  </a:lnTo>
                  <a:lnTo>
                    <a:pt x="0" y="1805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967938" cy="18726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BASE DE DADOS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967" y="1747130"/>
            <a:ext cx="8380079" cy="7036936"/>
            <a:chOff x="0" y="0"/>
            <a:chExt cx="11173439" cy="93825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73439" cy="9382582"/>
            </a:xfrm>
            <a:custGeom>
              <a:avLst/>
              <a:gdLst/>
              <a:ahLst/>
              <a:cxnLst/>
              <a:rect r="r" b="b" t="t" l="l"/>
              <a:pathLst>
                <a:path h="9382582" w="11173439">
                  <a:moveTo>
                    <a:pt x="0" y="0"/>
                  </a:moveTo>
                  <a:lnTo>
                    <a:pt x="11173439" y="0"/>
                  </a:lnTo>
                  <a:lnTo>
                    <a:pt x="11173439" y="9382582"/>
                  </a:lnTo>
                  <a:lnTo>
                    <a:pt x="0" y="938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1173439" cy="9506407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Os dados deste estudo foram obtidos doa plataforma Kaggle, que continha os dados de vendas diária de cinco produtos distribuidos em três lojas e em 6  países no período de 2010 a 2019.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Neste arquivo foi trabalhado a seperação dos dados para formar um arquivo de trabalho que continham as informações de vendas diárias de um único produto, de uma loja e de um país.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Foi trabalhada a sazionalidade das informações de vendas considerando a estação do ano.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111182" y="486693"/>
            <a:ext cx="6905736" cy="8632170"/>
          </a:xfrm>
          <a:custGeom>
            <a:avLst/>
            <a:gdLst/>
            <a:ahLst/>
            <a:cxnLst/>
            <a:rect r="r" b="b" t="t" l="l"/>
            <a:pathLst>
              <a:path h="8632170" w="6905736">
                <a:moveTo>
                  <a:pt x="0" y="0"/>
                </a:moveTo>
                <a:lnTo>
                  <a:pt x="6905736" y="0"/>
                </a:lnTo>
                <a:lnTo>
                  <a:pt x="6905736" y="8632170"/>
                </a:lnTo>
                <a:lnTo>
                  <a:pt x="0" y="8632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96" r="0" b="-113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97361" y="2057328"/>
            <a:ext cx="1668363" cy="32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6053" y="9617471"/>
            <a:ext cx="1858566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www.kaggle.com/competitions/playground-series-s5e1"/>
              </a:rPr>
              <a:t>Kaggle - Base da dados Original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73723" y="9428535"/>
            <a:ext cx="1371154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  <a:spcBef>
                <a:spcPct val="0"/>
              </a:spcBef>
            </a:pPr>
            <a:r>
              <a:rPr lang="en-US" sz="999" spc="-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Visões da Base de Dados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6053" y="1069903"/>
            <a:ext cx="8225955" cy="1354455"/>
            <a:chOff x="0" y="0"/>
            <a:chExt cx="10967940" cy="1805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67940" cy="1805940"/>
            </a:xfrm>
            <a:custGeom>
              <a:avLst/>
              <a:gdLst/>
              <a:ahLst/>
              <a:cxnLst/>
              <a:rect r="r" b="b" t="t" l="l"/>
              <a:pathLst>
                <a:path h="1805940" w="10967940">
                  <a:moveTo>
                    <a:pt x="0" y="0"/>
                  </a:moveTo>
                  <a:lnTo>
                    <a:pt x="10967940" y="0"/>
                  </a:lnTo>
                  <a:lnTo>
                    <a:pt x="10967940" y="1805940"/>
                  </a:lnTo>
                  <a:lnTo>
                    <a:pt x="0" y="1805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967940" cy="18726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000000"/>
                  </a:solidFill>
                  <a:latin typeface="Impact"/>
                  <a:ea typeface="Impact"/>
                  <a:cs typeface="Impact"/>
                  <a:sym typeface="Impact"/>
                </a:rPr>
                <a:t>AVALIAÇÃO DOS DADOS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74967" y="2424358"/>
            <a:ext cx="8412327" cy="7413964"/>
            <a:chOff x="0" y="0"/>
            <a:chExt cx="11216436" cy="98852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6436" cy="9885285"/>
            </a:xfrm>
            <a:custGeom>
              <a:avLst/>
              <a:gdLst/>
              <a:ahLst/>
              <a:cxnLst/>
              <a:rect r="r" b="b" t="t" l="l"/>
              <a:pathLst>
                <a:path h="9885285" w="11216436">
                  <a:moveTo>
                    <a:pt x="0" y="0"/>
                  </a:moveTo>
                  <a:lnTo>
                    <a:pt x="11216436" y="0"/>
                  </a:lnTo>
                  <a:lnTo>
                    <a:pt x="11216436" y="9885285"/>
                  </a:lnTo>
                  <a:lnTo>
                    <a:pt x="0" y="9885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1216436" cy="10009110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Realizada a análise exploratória dos dados para determinar quais tipos de algoritimos podem ser utilizados, quais variáveis são relevantes ao modelo.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O problema será tratado via regressão por quer previsamos prever a quantidade de venda para os próximos períodos. </a:t>
              </a:r>
            </a:p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Para determinar qual o melhor modelo a ser aplicado foram utilizados os seguintes passos: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Avaliação da Densidade para visualmente verificar se trata-se de distribuição normal.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Verificação da correlação das variáveis para determinar quais são relevantes para o modelo.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Verificação de os dados possuem uma distribuição aderente a normalidade através do método de Shapiro-Francia.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1212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20708" y="632221"/>
            <a:ext cx="6518347" cy="9256304"/>
          </a:xfrm>
          <a:custGeom>
            <a:avLst/>
            <a:gdLst/>
            <a:ahLst/>
            <a:cxnLst/>
            <a:rect r="r" b="b" t="t" l="l"/>
            <a:pathLst>
              <a:path h="9256304" w="6518347">
                <a:moveTo>
                  <a:pt x="0" y="0"/>
                </a:moveTo>
                <a:lnTo>
                  <a:pt x="6518347" y="0"/>
                </a:lnTo>
                <a:lnTo>
                  <a:pt x="6518347" y="9256304"/>
                </a:lnTo>
                <a:lnTo>
                  <a:pt x="0" y="9256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8225954" cy="1354455"/>
            <a:chOff x="0" y="0"/>
            <a:chExt cx="10967939" cy="18059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7939" cy="1805940"/>
            </a:xfrm>
            <a:custGeom>
              <a:avLst/>
              <a:gdLst/>
              <a:ahLst/>
              <a:cxnLst/>
              <a:rect r="r" b="b" t="t" l="l"/>
              <a:pathLst>
                <a:path h="1805940" w="10967939">
                  <a:moveTo>
                    <a:pt x="0" y="0"/>
                  </a:moveTo>
                  <a:lnTo>
                    <a:pt x="10967939" y="0"/>
                  </a:lnTo>
                  <a:lnTo>
                    <a:pt x="10967939" y="1805940"/>
                  </a:lnTo>
                  <a:lnTo>
                    <a:pt x="0" y="1805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967939" cy="18726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69E597"/>
                  </a:solidFill>
                  <a:latin typeface="Impact"/>
                  <a:ea typeface="Impact"/>
                  <a:cs typeface="Impact"/>
                  <a:sym typeface="Impact"/>
                </a:rPr>
                <a:t>MODELOS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967" y="2621039"/>
            <a:ext cx="6864435" cy="854311"/>
            <a:chOff x="0" y="0"/>
            <a:chExt cx="9152580" cy="11390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2580" cy="1139081"/>
            </a:xfrm>
            <a:custGeom>
              <a:avLst/>
              <a:gdLst/>
              <a:ahLst/>
              <a:cxnLst/>
              <a:rect r="r" b="b" t="t" l="l"/>
              <a:pathLst>
                <a:path h="1139081" w="9152580">
                  <a:moveTo>
                    <a:pt x="0" y="0"/>
                  </a:moveTo>
                  <a:lnTo>
                    <a:pt x="9152580" y="0"/>
                  </a:lnTo>
                  <a:lnTo>
                    <a:pt x="9152580" y="1139081"/>
                  </a:lnTo>
                  <a:lnTo>
                    <a:pt x="0" y="1139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152580" cy="12057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Breve texto sobre o que está sendo abordado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8681" y="2872241"/>
            <a:ext cx="7395319" cy="6579108"/>
            <a:chOff x="0" y="0"/>
            <a:chExt cx="9860425" cy="8772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60425" cy="8772144"/>
            </a:xfrm>
            <a:custGeom>
              <a:avLst/>
              <a:gdLst/>
              <a:ahLst/>
              <a:cxnLst/>
              <a:rect r="r" b="b" t="t" l="l"/>
              <a:pathLst>
                <a:path h="8772144" w="9860425">
                  <a:moveTo>
                    <a:pt x="0" y="0"/>
                  </a:moveTo>
                  <a:lnTo>
                    <a:pt x="9860425" y="0"/>
                  </a:lnTo>
                  <a:lnTo>
                    <a:pt x="9860425" y="8772144"/>
                  </a:lnTo>
                  <a:lnTo>
                    <a:pt x="0" y="8772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9860425" cy="8895969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Aplicação de modelos de regressão para determinar qual o melhor modelo se aplica para estes dados.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Os modelos selecionados para o estudo foram: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LinearRegression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DecisionTreeRegressor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RandomForestRegressor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KNeighborsRegressor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GradientBoostingRegressor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XGBRegressor</a:t>
              </a:r>
            </a:p>
            <a:p>
              <a:pPr algn="l" marL="1036326" indent="-345442" lvl="2">
                <a:lnSpc>
                  <a:spcPts val="3600"/>
                </a:lnSpc>
                <a:buFont typeface="Arial"/>
                <a:buChar char="⚬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AdaBoostRegressor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o critério de avaliação foi o menor MAPE - Erro Percentual Absoluto Médio.</a:t>
              </a:r>
            </a:p>
            <a:p>
              <a:pPr algn="l" marL="518163" indent="-259082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E foi feita a comparação dos valores gerados pelos 3 melhores modelos. 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48875" y="838867"/>
            <a:ext cx="7971469" cy="8419433"/>
          </a:xfrm>
          <a:custGeom>
            <a:avLst/>
            <a:gdLst/>
            <a:ahLst/>
            <a:cxnLst/>
            <a:rect r="r" b="b" t="t" l="l"/>
            <a:pathLst>
              <a:path h="8419433" w="7971469">
                <a:moveTo>
                  <a:pt x="0" y="0"/>
                </a:moveTo>
                <a:lnTo>
                  <a:pt x="7971469" y="0"/>
                </a:lnTo>
                <a:lnTo>
                  <a:pt x="7971469" y="8419433"/>
                </a:lnTo>
                <a:lnTo>
                  <a:pt x="0" y="8419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sp>
        <p:nvSpPr>
          <p:cNvPr name="Freeform 4" id="4" descr="Image"/>
          <p:cNvSpPr/>
          <p:nvPr/>
        </p:nvSpPr>
        <p:spPr>
          <a:xfrm flipH="false" flipV="false" rot="0">
            <a:off x="301317" y="9419010"/>
            <a:ext cx="514570" cy="581073"/>
          </a:xfrm>
          <a:custGeom>
            <a:avLst/>
            <a:gdLst/>
            <a:ahLst/>
            <a:cxnLst/>
            <a:rect r="r" b="b" t="t" l="l"/>
            <a:pathLst>
              <a:path h="581073" w="514570">
                <a:moveTo>
                  <a:pt x="0" y="0"/>
                </a:moveTo>
                <a:lnTo>
                  <a:pt x="514570" y="0"/>
                </a:lnTo>
                <a:lnTo>
                  <a:pt x="514570" y="581073"/>
                </a:lnTo>
                <a:lnTo>
                  <a:pt x="0" y="581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1" r="0" b="-18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66053" y="1069903"/>
            <a:ext cx="8225954" cy="1354455"/>
            <a:chOff x="0" y="0"/>
            <a:chExt cx="10967939" cy="18059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7939" cy="1805940"/>
            </a:xfrm>
            <a:custGeom>
              <a:avLst/>
              <a:gdLst/>
              <a:ahLst/>
              <a:cxnLst/>
              <a:rect r="r" b="b" t="t" l="l"/>
              <a:pathLst>
                <a:path h="1805940" w="10967939">
                  <a:moveTo>
                    <a:pt x="0" y="0"/>
                  </a:moveTo>
                  <a:lnTo>
                    <a:pt x="10967939" y="0"/>
                  </a:lnTo>
                  <a:lnTo>
                    <a:pt x="10967939" y="1805940"/>
                  </a:lnTo>
                  <a:lnTo>
                    <a:pt x="0" y="1805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967939" cy="18726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7500" spc="-225">
                  <a:solidFill>
                    <a:srgbClr val="69E597"/>
                  </a:solidFill>
                  <a:latin typeface="Impact"/>
                  <a:ea typeface="Impact"/>
                  <a:cs typeface="Impact"/>
                  <a:sym typeface="Impact"/>
                </a:rPr>
                <a:t>CONCLUSÃO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4967" y="2621038"/>
            <a:ext cx="6864435" cy="854311"/>
            <a:chOff x="0" y="0"/>
            <a:chExt cx="9152580" cy="11390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2580" cy="1139081"/>
            </a:xfrm>
            <a:custGeom>
              <a:avLst/>
              <a:gdLst/>
              <a:ahLst/>
              <a:cxnLst/>
              <a:rect r="r" b="b" t="t" l="l"/>
              <a:pathLst>
                <a:path h="1139081" w="9152580">
                  <a:moveTo>
                    <a:pt x="0" y="0"/>
                  </a:moveTo>
                  <a:lnTo>
                    <a:pt x="9152580" y="0"/>
                  </a:lnTo>
                  <a:lnTo>
                    <a:pt x="9152580" y="1139081"/>
                  </a:lnTo>
                  <a:lnTo>
                    <a:pt x="0" y="1139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152580" cy="12057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Breve texto sobre o que está sendo abordado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2243168" y="4907653"/>
            <a:ext cx="5752333" cy="419984"/>
            <a:chOff x="0" y="0"/>
            <a:chExt cx="7669777" cy="55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9778" cy="559978"/>
            </a:xfrm>
            <a:custGeom>
              <a:avLst/>
              <a:gdLst/>
              <a:ahLst/>
              <a:cxnLst/>
              <a:rect r="r" b="b" t="t" l="l"/>
              <a:pathLst>
                <a:path h="559978" w="7669778">
                  <a:moveTo>
                    <a:pt x="0" y="0"/>
                  </a:moveTo>
                  <a:lnTo>
                    <a:pt x="7669778" y="0"/>
                  </a:lnTo>
                  <a:lnTo>
                    <a:pt x="7669778" y="559978"/>
                  </a:lnTo>
                  <a:lnTo>
                    <a:pt x="0" y="559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669777" cy="57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E8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Previsão de Venda Usando Inteligência Artificial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501704" y="1069903"/>
            <a:ext cx="8786296" cy="7504094"/>
          </a:xfrm>
          <a:custGeom>
            <a:avLst/>
            <a:gdLst/>
            <a:ahLst/>
            <a:cxnLst/>
            <a:rect r="r" b="b" t="t" l="l"/>
            <a:pathLst>
              <a:path h="7504094" w="8786296">
                <a:moveTo>
                  <a:pt x="0" y="0"/>
                </a:moveTo>
                <a:lnTo>
                  <a:pt x="8786296" y="0"/>
                </a:lnTo>
                <a:lnTo>
                  <a:pt x="8786296" y="7504094"/>
                </a:lnTo>
                <a:lnTo>
                  <a:pt x="0" y="7504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39" t="0" r="0" b="-42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2037360"/>
            <a:ext cx="8248095" cy="7962723"/>
            <a:chOff x="0" y="0"/>
            <a:chExt cx="10780189" cy="104072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0189" cy="10407210"/>
            </a:xfrm>
            <a:custGeom>
              <a:avLst/>
              <a:gdLst/>
              <a:ahLst/>
              <a:cxnLst/>
              <a:rect r="r" b="b" t="t" l="l"/>
              <a:pathLst>
                <a:path h="10407210" w="10780189">
                  <a:moveTo>
                    <a:pt x="0" y="0"/>
                  </a:moveTo>
                  <a:lnTo>
                    <a:pt x="10780189" y="0"/>
                  </a:lnTo>
                  <a:lnTo>
                    <a:pt x="10780189" y="10407210"/>
                  </a:lnTo>
                  <a:lnTo>
                    <a:pt x="0" y="10407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0780189" cy="10531035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O modelo que obteve o melhor MAPE foi XGBRegressor e os dados foram gerados para os próximos 30 dias, considerando a data corrente. 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2250"/>
                </a:lnSpc>
              </a:pPr>
              <a:r>
                <a:rPr lang="en-US" sz="1500">
                  <a:solidFill>
                    <a:srgbClr val="212121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O XGBRegressor é a versão para regressão do algoritmo XGBoost (Extreme Gradient Boosting), que é um modelo de aprendizado de máquina baseado em árvores de decisão. Ele funciona como um ensemble de árvores (conjunto de modelos fracos que, juntos, formam um modelo forte), utilizando a técnica de gradiente boosting.</a:t>
              </a:r>
            </a:p>
            <a:p>
              <a:pPr algn="l">
                <a:lnSpc>
                  <a:spcPts val="2250"/>
                </a:lnSpc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Funcionamento: </a:t>
              </a:r>
            </a:p>
            <a:p>
              <a:pPr algn="l" marL="323858" indent="-161929" lvl="1">
                <a:lnSpc>
                  <a:spcPts val="2250"/>
                </a:lnSpc>
                <a:buAutoNum type="arabicPeriod" startAt="1"/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Modelo base: árvore de decisão - usa árvores de decisão com profundidade limitada (shallow trees) como "modelos fracos".</a:t>
              </a:r>
            </a:p>
            <a:p>
              <a:pPr algn="l" marL="323858" indent="-161929" lvl="1">
                <a:lnSpc>
                  <a:spcPts val="2250"/>
                </a:lnSpc>
                <a:buAutoNum type="arabicPeriod" startAt="1"/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Construção em etapas (boosting) - O modelo é treinado de forma sequencial. A cada nova etapa, é treinada uma nova árvore para corrigir os erros residuais do modelo anterior.</a:t>
              </a:r>
            </a:p>
            <a:p>
              <a:pPr algn="l" marL="323858" indent="-161929" lvl="1">
                <a:lnSpc>
                  <a:spcPts val="2250"/>
                </a:lnSpc>
                <a:buAutoNum type="arabicPeriod" startAt="1"/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Minimização do erro via gradiente - A ideia é minimizar uma função de perda (por exemplo, erro quadrático médio) usando o gradiente descendente. Cada nova árvore é ajustada ao gradiente negativo da função de perda em relação à saída do modelo atual.</a:t>
              </a:r>
            </a:p>
            <a:p>
              <a:pPr algn="l" marL="323858" indent="-161929" lvl="1">
                <a:lnSpc>
                  <a:spcPts val="2250"/>
                </a:lnSpc>
                <a:buAutoNum type="arabicPeriod" startAt="1"/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Regularização, possui regularização L1 e L2 para evitar overfitting, algo que muitos algoritmos de boosting tradicionais não possuem.</a:t>
              </a:r>
            </a:p>
            <a:p>
              <a:pPr algn="l" marL="323858" indent="-161929" lvl="1">
                <a:lnSpc>
                  <a:spcPts val="2250"/>
                </a:lnSpc>
                <a:buAutoNum type="arabicPeriod" startAt="1"/>
              </a:pPr>
              <a:r>
                <a:rPr lang="en-US" sz="15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Importância das features - O modelo calcula a importância de cada variável, o que é útil para entender o comportamento da predição. “</a:t>
              </a:r>
            </a:p>
            <a:p>
              <a:pPr algn="l">
                <a:lnSpc>
                  <a:spcPts val="1950"/>
                </a:lnSpc>
              </a:pPr>
            </a:p>
            <a:p>
              <a:pPr algn="l">
                <a:lnSpc>
                  <a:spcPts val="3450"/>
                </a:lnSpc>
              </a:pPr>
              <a:r>
                <a:rPr lang="en-US" sz="2300" i="true">
                  <a:solidFill>
                    <a:srgbClr val="212121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O modelo pode ser aplicado para os demais produtos, loja e paises.</a:t>
              </a:r>
            </a:p>
            <a:p>
              <a:pPr algn="l">
                <a:lnSpc>
                  <a:spcPts val="255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124605" y="9399960"/>
            <a:ext cx="1364754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github.com/SSby2S/TCC-Data-Science"/>
              </a:rPr>
              <a:t>Trabalho Final - GitHub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E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-faculdade-preto.png"/>
          <p:cNvSpPr/>
          <p:nvPr/>
        </p:nvSpPr>
        <p:spPr>
          <a:xfrm flipH="false" flipV="false" rot="0">
            <a:off x="423007" y="382124"/>
            <a:ext cx="2429860" cy="500194"/>
          </a:xfrm>
          <a:custGeom>
            <a:avLst/>
            <a:gdLst/>
            <a:ahLst/>
            <a:cxnLst/>
            <a:rect r="r" b="b" t="t" l="l"/>
            <a:pathLst>
              <a:path h="500194" w="2429860">
                <a:moveTo>
                  <a:pt x="0" y="0"/>
                </a:moveTo>
                <a:lnTo>
                  <a:pt x="2429859" y="0"/>
                </a:lnTo>
                <a:lnTo>
                  <a:pt x="2429859" y="500194"/>
                </a:lnTo>
                <a:lnTo>
                  <a:pt x="0" y="50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0" r="-770" b="0"/>
            </a:stretch>
          </a:blipFill>
        </p:spPr>
      </p:sp>
      <p:sp>
        <p:nvSpPr>
          <p:cNvPr name="Freeform 3" id="3" descr="Logo-faculdade-preto.png"/>
          <p:cNvSpPr/>
          <p:nvPr/>
        </p:nvSpPr>
        <p:spPr>
          <a:xfrm flipH="false" flipV="false" rot="0">
            <a:off x="5957578" y="4101725"/>
            <a:ext cx="6372845" cy="1299545"/>
          </a:xfrm>
          <a:custGeom>
            <a:avLst/>
            <a:gdLst/>
            <a:ahLst/>
            <a:cxnLst/>
            <a:rect r="r" b="b" t="t" l="l"/>
            <a:pathLst>
              <a:path h="1299545" w="6372845">
                <a:moveTo>
                  <a:pt x="0" y="0"/>
                </a:moveTo>
                <a:lnTo>
                  <a:pt x="6372845" y="0"/>
                </a:lnTo>
                <a:lnTo>
                  <a:pt x="6372845" y="1299546"/>
                </a:lnTo>
                <a:lnTo>
                  <a:pt x="0" y="129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" t="0" r="-29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DAGkhkpbqfY</dc:identifier>
  <dcterms:modified xsi:type="dcterms:W3CDTF">2011-08-01T06:04:30Z</dcterms:modified>
  <cp:revision>1</cp:revision>
  <dc:title>Pitch - TCC SRS.pptx</dc:title>
</cp:coreProperties>
</file>